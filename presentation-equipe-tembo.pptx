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109728"/>
          </a:xfrm>
          <a:prstGeom prst="rect">
            <a:avLst/>
          </a:prstGeom>
          <a:solidFill>
            <a:srgbClr val="C8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EFEAE1"/>
                </a:solidFill>
                <a:latin typeface="Segoe UI"/>
              </a:rPr>
              <a:t>TEMBO SELFIE &amp; VOTE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880360"/>
            <a:ext cx="2377440" cy="3810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C4A56E"/>
                </a:solidFill>
                <a:latin typeface="Consolas"/>
              </a:rPr>
              <a:t>Soirée Club Tembo · vendredi 14 août 2026 · Kinshasa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8F8880"/>
                </a:solidFill>
                <a:latin typeface="Segoe UI"/>
              </a:rPr>
              <a:t>Mode d'emploi pour l'équipe de la soirée.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8F8880"/>
                </a:solidFill>
                <a:latin typeface="Segoe UI"/>
              </a:rPr>
              <a:t>Aucune connaissance technique nécessaire.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1F1B18"/>
                </a:solidFill>
                <a:latin typeface="Segoe UI"/>
              </a:rPr>
              <a:t>Le dispositif en une phrase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1F1B18"/>
                </a:solidFill>
                <a:latin typeface="Segoe UI"/>
              </a:rPr>
              <a:t>Les invités prennent un selfie avec leur Tembo, le publient après votre validation, votent pour la meilleure photo — et le gagnant est révélé sur scène.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356616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38100" cy="2926080"/>
          </a:xfrm>
          <a:prstGeom prst="rect">
            <a:avLst/>
          </a:prstGeom>
          <a:solidFill>
            <a:srgbClr val="C8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1 · Le téléphone des invités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10128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Tout se passe dans le navigateur,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rien à installer.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Entrée par QR code, publication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du selfie, vote.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43200"/>
            <a:ext cx="356616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743200"/>
            <a:ext cx="38100" cy="292608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880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2 · La régie (vous)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10128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Le poste de commande, sur votre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propre téléphone ou ordinateur.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Modération des photos, phases de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la soirée, révélation, export.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743200"/>
            <a:ext cx="356616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743200"/>
            <a:ext cx="38100" cy="2926080"/>
          </a:xfrm>
          <a:prstGeom prst="rect">
            <a:avLst/>
          </a:prstGeom>
          <a:solidFill>
            <a:srgbClr val="1F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880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3 · Le mur 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310128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Le classement en direct dans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la salle, avec le QR d'accès.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Il tourne tout seul : on ouvre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l'adresse et on n'y touche plus.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ACCÈS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1F1B18"/>
                </a:solidFill>
                <a:latin typeface="Segoe UI"/>
              </a:rPr>
              <a:t>Comment les invités entrent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Le chemin normal : scanner le QR affiché sur l'écran LED — </a:t>
            </a:r>
            <a:r>
              <a:rPr sz="1700">
                <a:solidFill>
                  <a:srgbClr val="6E675E"/>
                </a:solidFill>
                <a:latin typeface="Segoe UI"/>
              </a:rPr>
              <a:t>il fait entrer directement, sans rien saisir.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Le repli : le code à 4 chiffres — </a:t>
            </a:r>
            <a:r>
              <a:rPr sz="1700">
                <a:solidFill>
                  <a:srgbClr val="6E675E"/>
                </a:solidFill>
                <a:latin typeface="Segoe UI"/>
              </a:rPr>
              <a:t>affiché à côté du QR, à saisir sur la page d'accès (QR imprimé des totems).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Le code change toutes les 20 minutes — </a:t>
            </a:r>
            <a:r>
              <a:rPr sz="1700">
                <a:solidFill>
                  <a:srgbClr val="6E675E"/>
                </a:solidFill>
                <a:latin typeface="Segoe UI"/>
              </a:rPr>
              <a:t>et l'ancien reste valable 20 minutes de plus : personne n'est rejeté au moment du changement.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Une page dédiée au QR existe — </a:t>
            </a:r>
            <a:r>
              <a:rPr sz="1700">
                <a:solidFill>
                  <a:srgbClr val="6E675E"/>
                </a:solidFill>
                <a:latin typeface="Segoe UI"/>
              </a:rPr>
              <a:t>pour une tablette à l'entrée ou un second écran (adresse dans le RUNBOOK).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Pourquoi ce système ? — </a:t>
            </a:r>
            <a:r>
              <a:rPr sz="1700">
                <a:solidFill>
                  <a:srgbClr val="6E675E"/>
                </a:solidFill>
                <a:latin typeface="Segoe UI"/>
              </a:rPr>
              <a:t>la soirée est privée, sans liste d'invités : le code rotatif ferme la porte à ceux qui ne sont pas dans la salle.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PARCOURS INVITÉ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1F1B18"/>
                </a:solidFill>
                <a:latin typeface="Segoe UI"/>
              </a:rPr>
              <a:t>Trois gestes, zéro friction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356616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8100" cy="2651760"/>
          </a:xfrm>
          <a:prstGeom prst="rect">
            <a:avLst/>
          </a:prstGeom>
          <a:solidFill>
            <a:srgbClr val="C8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① Selfie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41447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L'invité prend un selfie avec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sa Tembo. La photo est réduite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automatiquement : l'envoi reste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rapide même en 4G moyenne.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874519"/>
            <a:ext cx="356616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74519"/>
            <a:ext cx="38100" cy="265176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② Publication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41447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Il donne son prénom et son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accord (case obligatoire).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Sa photo attend VOTRE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validation avant d'apparaître.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874519"/>
            <a:ext cx="356616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38100" cy="2651760"/>
          </a:xfrm>
          <a:prstGeom prst="rect">
            <a:avLst/>
          </a:prstGeom>
          <a:solidFill>
            <a:srgbClr val="1F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0116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③ Vote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441447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Un appui sur une photo = un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vote. Confirmation affichée 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chaque vote. Il peut changer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d'avis jusqu'à la clôture.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92040"/>
            <a:ext cx="10881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•  Une seule photo par invité — </a:t>
            </a:r>
            <a:r>
              <a:rPr sz="1500">
                <a:solidFill>
                  <a:srgbClr val="6E675E"/>
                </a:solidFill>
                <a:latin typeface="Segoe UI"/>
              </a:rPr>
              <a:t>c'est la règle du jeu ; refusée, elle peut être reprise.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•  Les totaux de votes ne sont jamais montrés aux invités — </a:t>
            </a:r>
            <a:r>
              <a:rPr sz="1500">
                <a:solidFill>
                  <a:srgbClr val="6E675E"/>
                </a:solidFill>
                <a:latin typeface="Segoe UI"/>
              </a:rPr>
              <a:t>pour éviter le vote moutonnier — les chiffres ne vivent que sur le mur LED.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RÉGIE · CHRISTIAN &amp; HADASSA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1F1B18"/>
                </a:solidFill>
                <a:latin typeface="Segoe UI"/>
              </a:rPr>
              <a:t>La modération, votre poste clé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Rien ne se publie sans vous — </a:t>
            </a:r>
            <a:r>
              <a:rPr sz="1700">
                <a:solidFill>
                  <a:srgbClr val="6E675E"/>
                </a:solidFill>
                <a:latin typeface="Segoe UI"/>
              </a:rPr>
              <a:t>chaque photo passe par la file d'attente de la régie.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La file se met à jour toute seule — </a:t>
            </a:r>
            <a:r>
              <a:rPr sz="1700">
                <a:solidFill>
                  <a:srgbClr val="6E675E"/>
                </a:solidFill>
                <a:latin typeface="Segoe UI"/>
              </a:rPr>
              <a:t>toutes les 5 secondes, la photo la plus ancienne d'abord, compteur en gros.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Deux boutons, bien séparés — </a:t>
            </a:r>
            <a:r>
              <a:rPr sz="1700">
                <a:solidFill>
                  <a:srgbClr val="6E675E"/>
                </a:solidFill>
                <a:latin typeface="Segoe UI"/>
              </a:rPr>
              <a:t>VALIDER ou REFUSER (avec un motif : produit absent, contenu inapproprié, photo illisible, autre).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Le prénom compte aussi — </a:t>
            </a:r>
            <a:r>
              <a:rPr sz="1700">
                <a:solidFill>
                  <a:srgbClr val="6E675E"/>
                </a:solidFill>
                <a:latin typeface="Segoe UI"/>
              </a:rPr>
              <a:t>il s'affiche sous la photo : modérez-le au même titre que l'image.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Retirer une photo déjà publiée : à tout moment — </a:t>
            </a:r>
            <a:r>
              <a:rPr sz="1700">
                <a:solidFill>
                  <a:srgbClr val="6E675E"/>
                </a:solidFill>
                <a:latin typeface="Segoe UI"/>
              </a:rPr>
              <a:t>onglet « Publiées » → Retirer → Confirmer. Moins de 30 secondes.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À deux sans vous marcher dessus — </a:t>
            </a:r>
            <a:r>
              <a:rPr sz="1700">
                <a:solidFill>
                  <a:srgbClr val="6E675E"/>
                </a:solidFill>
                <a:latin typeface="Segoe UI"/>
              </a:rPr>
              <a:t>si vous traitez la même photo en même temps, le second reçoit un message clair — rien n'est écrasé.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RÉGIE · ONGLET SOIRÉE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1F1B18"/>
                </a:solidFill>
                <a:latin typeface="Segoe UI"/>
              </a:rPr>
              <a:t>Piloter la soirée : 6 phases, un clic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8100" cy="566928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0195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1 · Préparation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9019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E675E"/>
                </a:solidFill>
                <a:latin typeface="Segoe UI"/>
              </a:rPr>
              <a:t>L'écran affiche le QR + code. Rien d'ouvert.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42032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42032"/>
            <a:ext cx="38100" cy="566928"/>
          </a:xfrm>
          <a:prstGeom prst="rect">
            <a:avLst/>
          </a:prstGeom>
          <a:solidFill>
            <a:srgbClr val="C8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1518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2 · Publication + vote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1518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E675E"/>
                </a:solidFill>
                <a:latin typeface="Segoe UI"/>
              </a:rPr>
              <a:t>Le cœur de la soirée : selfies et votes ouverts.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55264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38100" cy="566928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2841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3 · Vote seul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32841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E675E"/>
                </a:solidFill>
                <a:latin typeface="Segoe UI"/>
              </a:rPr>
              <a:t>Optionnel : plus de nouvelles photos, les votes continuent.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68496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968496"/>
            <a:ext cx="38100" cy="566928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4164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4 · Votes clos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04164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E675E"/>
                </a:solidFill>
                <a:latin typeface="Segoe UI"/>
              </a:rPr>
              <a:t>Le classement se fige. Place à la vérification.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81728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681728"/>
            <a:ext cx="38100" cy="566928"/>
          </a:xfrm>
          <a:prstGeom prst="rect">
            <a:avLst/>
          </a:prstGeom>
          <a:solidFill>
            <a:srgbClr val="C8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754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5 · Révélation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754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E675E"/>
                </a:solidFill>
                <a:latin typeface="Segoe UI"/>
              </a:rPr>
              <a:t>La photo gagnante en grand sur l'écran.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94960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394960"/>
            <a:ext cx="38100" cy="566928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4681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6 · Terminé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46811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E675E"/>
                </a:solidFill>
                <a:latin typeface="Segoe UI"/>
              </a:rPr>
              <a:t>Écran de remerciement.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6E5836"/>
                </a:solidFill>
                <a:latin typeface="Segoe UI"/>
              </a:rPr>
              <a:t>Un clic = effet immédiat sur les téléphones ET sur l'écran. Pas de confirmation : le bouton de la phase en cours est marqué « en cours ».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DANS LA SALLE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1F1B18"/>
                </a:solidFill>
                <a:latin typeface="Segoe UI"/>
              </a:rPr>
              <a:t>Le mur LED tourne tout seul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Ce qu'il montre — </a:t>
            </a:r>
            <a:r>
              <a:rPr sz="1700">
                <a:solidFill>
                  <a:srgbClr val="6E675E"/>
                </a:solidFill>
                <a:latin typeface="Segoe UI"/>
              </a:rPr>
              <a:t>le Top 5 en direct (rafraîchi toutes les 2 secondes), le nombre de photos et de votes, le QR + code d'accès en permanence.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On l'allume une fois — </a:t>
            </a:r>
            <a:r>
              <a:rPr sz="1700">
                <a:solidFill>
                  <a:srgbClr val="6E675E"/>
                </a:solidFill>
                <a:latin typeface="Segoe UI"/>
              </a:rPr>
              <a:t>on ouvre l'adresse de l'écran en plein écran, et on n'y touche plus de la soirée.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Si le réseau saute — </a:t>
            </a:r>
            <a:r>
              <a:rPr sz="1700">
                <a:solidFill>
                  <a:srgbClr val="6E675E"/>
                </a:solidFill>
                <a:latin typeface="Segoe UI"/>
              </a:rPr>
              <a:t>l'écran GARDE le dernier classement affiché — jamais de page blanche devant 300 personnes. Un petit point doré signale la coupure, il disparaît tout seul.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Il s'entretient tout seul — </a:t>
            </a:r>
            <a:r>
              <a:rPr sz="1700">
                <a:solidFill>
                  <a:srgbClr val="6E675E"/>
                </a:solidFill>
                <a:latin typeface="Segoe UI"/>
              </a:rPr>
              <a:t>la page se recharge discrètement toutes les 30 minutes pour rester fraîche 5 heures durant.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S'il semble figé plus de 2 minutes — </a:t>
            </a:r>
            <a:r>
              <a:rPr sz="1700">
                <a:solidFill>
                  <a:srgbClr val="6E675E"/>
                </a:solidFill>
                <a:latin typeface="Segoe UI"/>
              </a:rPr>
              <a:t>un simple F5 sur la machine de régie suffit (RUNBOOK, section 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RÉGIE · ONGLET RÉVÉLATION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1F1B18"/>
                </a:solidFill>
                <a:latin typeface="Segoe UI"/>
              </a:rPr>
              <a:t>La révélation, en 4 temps guidés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1 · Fermer les votes — </a:t>
            </a:r>
            <a:r>
              <a:rPr sz="1700">
                <a:solidFill>
                  <a:srgbClr val="6E675E"/>
                </a:solidFill>
                <a:latin typeface="Segoe UI"/>
              </a:rPr>
              <a:t>un bouton vous le propose si ce n'est pas déjà fait.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2 · Relire le Top 5 — </a:t>
            </a:r>
            <a:r>
              <a:rPr sz="1700">
                <a:solidFill>
                  <a:srgbClr val="6E675E"/>
                </a:solidFill>
                <a:latin typeface="Segoe UI"/>
              </a:rPr>
              <a:t>les votes suspects sont signalés en rouge : « suspect » = plusieurs votes partis du même téléphone. Rien n'est bloqué automatiquement — c'est votre jugement qui fait foi.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3 · Valider le classement final — </a:t>
            </a:r>
            <a:r>
              <a:rPr sz="1700">
                <a:solidFill>
                  <a:srgbClr val="6E675E"/>
                </a:solidFill>
                <a:latin typeface="Segoe UI"/>
              </a:rPr>
              <a:t>un clic. Le gagnant est enregistré, avec l'heure et votre nom.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4 · Lancer la révélation — </a:t>
            </a:r>
            <a:r>
              <a:rPr sz="1700">
                <a:solidFill>
                  <a:srgbClr val="6E675E"/>
                </a:solidFill>
                <a:latin typeface="Segoe UI"/>
              </a:rPr>
              <a:t>la photo gagnante apparaît en fondu sur l'écran. Après le moment de scène : « Terminer » pour l'écran de remerciement.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6E5836"/>
                </a:solidFill>
                <a:latin typeface="Segoe UI"/>
              </a:rPr>
              <a:t>C'est LA protection anti-triche du dispositif : aucun prix ne part sur scène sans qu'un humain ait relu le classement. Pour disqualifier une photo : Publiées → Retirer, le classement se recalcule.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SÉCURITÉ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1F1B18"/>
                </a:solidFill>
                <a:latin typeface="Segoe UI"/>
              </a:rPr>
              <a:t>Qui peut entrer, et comment c'est verrouillé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Dispositif 100 % privé — </a:t>
            </a:r>
            <a:r>
              <a:rPr sz="1700">
                <a:solidFill>
                  <a:srgbClr val="6E675E"/>
                </a:solidFill>
                <a:latin typeface="Segoe UI"/>
              </a:rPr>
              <a:t>introuvable sur Google, aucune page accessible sans être passé par le QR ou le code.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Le code ne se devine pas en rafale — </a:t>
            </a:r>
            <a:r>
              <a:rPr sz="1700">
                <a:solidFill>
                  <a:srgbClr val="6E675E"/>
                </a:solidFill>
                <a:latin typeface="Segoe UI"/>
              </a:rPr>
              <a:t>après 5 essais ratés, l'appareil est bloqué 10 minutes — impossible de tester les 10 000 combinaisons.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Chaque action a sa limite — </a:t>
            </a:r>
            <a:r>
              <a:rPr sz="1700">
                <a:solidFill>
                  <a:srgbClr val="6E675E"/>
                </a:solidFill>
                <a:latin typeface="Segoe UI"/>
              </a:rPr>
              <a:t>3 envois de photo par minute, 10 votes par minute : personne ne peut inonder le système.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La régie est fermée — </a:t>
            </a:r>
            <a:r>
              <a:rPr sz="1700">
                <a:solidFill>
                  <a:srgbClr val="6E675E"/>
                </a:solidFill>
                <a:latin typeface="Segoe UI"/>
              </a:rPr>
              <a:t>deux comptes seulement (Christian, Hadassa), mot de passe fort, blocage après 5 tentatives. Aucune inscription possible.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L'écran a sa clé secrète — </a:t>
            </a:r>
            <a:r>
              <a:rPr sz="1700">
                <a:solidFill>
                  <a:srgbClr val="6E675E"/>
                </a:solidFill>
                <a:latin typeface="Segoe UI"/>
              </a:rPr>
              <a:t>l'adresse du mur LED contient une clé impossible à deviner ; sans elle : accès refusé.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Tout est tracé — </a:t>
            </a:r>
            <a:r>
              <a:rPr sz="1700">
                <a:solidFill>
                  <a:srgbClr val="6E675E"/>
                </a:solidFill>
                <a:latin typeface="Segoe UI"/>
              </a:rPr>
              <a:t>chaque validation, refus, retrait ou changement de phase est journalisé : qui, quoi, quand.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SÉCURITÉ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1F1B18"/>
                </a:solidFill>
                <a:latin typeface="Segoe UI"/>
              </a:rPr>
              <a:t>Les photos et les données des invités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Les photos ne traînent jamais sur internet — </a:t>
            </a:r>
            <a:r>
              <a:rPr sz="1700">
                <a:solidFill>
                  <a:srgbClr val="6E675E"/>
                </a:solidFill>
                <a:latin typeface="Segoe UI"/>
              </a:rPr>
              <a:t>elles vivent dans un coffre privé du serveur et ne sortent que par des liens signés, temporaires, impossibles à deviner.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Une photo refusée n'est JAMAIS visible — </a:t>
            </a:r>
            <a:r>
              <a:rPr sz="1700">
                <a:solidFill>
                  <a:srgbClr val="6E675E"/>
                </a:solidFill>
                <a:latin typeface="Segoe UI"/>
              </a:rPr>
              <a:t>ni dans la galerie, ni par une adresse devinée.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Aucune donnée personnelle en clair — </a:t>
            </a:r>
            <a:r>
              <a:rPr sz="1700">
                <a:solidFill>
                  <a:srgbClr val="6E675E"/>
                </a:solidFill>
                <a:latin typeface="Segoe UI"/>
              </a:rPr>
              <a:t>pas de numéro, pas d'e-mail invité, pas d'adresse IP stockée telle quelle — seulement un prénom choisi par l'invité.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Le consentement d'abord — </a:t>
            </a:r>
            <a:r>
              <a:rPr sz="1700">
                <a:solidFill>
                  <a:srgbClr val="6E675E"/>
                </a:solidFill>
                <a:latin typeface="Segoe UI"/>
              </a:rPr>
              <a:t>case obligatoire pour l'affichage pendant la soirée ; case séparée et facultative pour la réutilisation après — jamais pré-cochée.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Droit de retrait permanent — </a:t>
            </a:r>
            <a:r>
              <a:rPr sz="1700">
                <a:solidFill>
                  <a:srgbClr val="6E675E"/>
                </a:solidFill>
                <a:latin typeface="Segoe UI"/>
              </a:rPr>
              <a:t>l'invité retire sa photo lui-même en deux appuis, ou vous le faites depuis la régie.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Après l'événement — </a:t>
            </a:r>
            <a:r>
              <a:rPr sz="1700">
                <a:solidFill>
                  <a:srgbClr val="6E675E"/>
                </a:solidFill>
                <a:latin typeface="Segoe UI"/>
              </a:rPr>
              <a:t>un nettoyage automatique supprime photos et traces, en ne gardant que les photos dont la réutilisation a été acceptée.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ROBUSTESSE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1F1B18"/>
                </a:solidFill>
                <a:latin typeface="Segoe UI"/>
              </a:rPr>
              <a:t>Conçu pour une soirée sans droit à l'erreur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Pensé pour la 4G instable — </a:t>
            </a:r>
            <a:r>
              <a:rPr sz="1700">
                <a:solidFill>
                  <a:srgbClr val="6E675E"/>
                </a:solidFill>
                <a:latin typeface="Segoe UI"/>
              </a:rPr>
              <a:t>si une requête se perd, l'application réessaie ou garde le dernier état : l'invité ne voit jamais un écran vide.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Le moins de pièces possible — </a:t>
            </a:r>
            <a:r>
              <a:rPr sz="1700">
                <a:solidFill>
                  <a:srgbClr val="6E675E"/>
                </a:solidFill>
                <a:latin typeface="Segoe UI"/>
              </a:rPr>
              <a:t>pas de serveur exotique à surveiller : ce qui n'existe pas ne peut pas tomber en panne.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La base est sauvegardée toutes les 10 minutes — </a:t>
            </a:r>
            <a:r>
              <a:rPr sz="1700">
                <a:solidFill>
                  <a:srgbClr val="6E675E"/>
                </a:solidFill>
                <a:latin typeface="Segoe UI"/>
              </a:rPr>
              <a:t>automatiquement, avec un historique — on peut toujours repartir d'il y a 10 minutes.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Testé en conditions de charge — </a:t>
            </a:r>
            <a:r>
              <a:rPr sz="1700">
                <a:solidFill>
                  <a:srgbClr val="6E675E"/>
                </a:solidFill>
                <a:latin typeface="Segoe UI"/>
              </a:rPr>
              <a:t>300 invités simulés : pic d'envois de photos, 300 votes, consultation continue — zéro erreur.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>
                <a:solidFill>
                  <a:srgbClr val="1F1B18"/>
                </a:solidFill>
                <a:latin typeface="Segoe UI"/>
              </a:rPr>
              <a:t>•  Répétition générale le 13 août — </a:t>
            </a:r>
            <a:r>
              <a:rPr sz="1700">
                <a:solidFill>
                  <a:srgbClr val="6E675E"/>
                </a:solidFill>
                <a:latin typeface="Segoe UI"/>
              </a:rPr>
              <a:t>sur site, checklist complète dans le RUNBOOK.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D1C24"/>
                </a:solidFill>
                <a:latin typeface="Consolas"/>
              </a:rPr>
              <a:t>SI QUELQUE CHOSE TOMBE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FEAE1"/>
                </a:solidFill>
                <a:latin typeface="Segoe UI"/>
              </a:rPr>
              <a:t>Le Plan B : la panne ne doit jamais se voir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EFEAE1"/>
                </a:solidFill>
                <a:latin typeface="Segoe UI"/>
              </a:rPr>
              <a:t>•  Réflexe préventif — </a:t>
            </a:r>
            <a:r>
              <a:rPr sz="1700">
                <a:solidFill>
                  <a:srgbClr val="8F8880"/>
                </a:solidFill>
                <a:latin typeface="Segoe UI"/>
              </a:rPr>
              <a:t>dès la fin des publications, faites un export (bouton du Tableau de bord) : vous aurez toujours un diaporama prêt.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EFEAE1"/>
                </a:solidFill>
                <a:latin typeface="Segoe UI"/>
              </a:rPr>
              <a:t>•  1 · Diaporama de secours — </a:t>
            </a:r>
            <a:r>
              <a:rPr sz="1700">
                <a:solidFill>
                  <a:srgbClr val="8F8880"/>
                </a:solidFill>
                <a:latin typeface="Segoe UI"/>
              </a:rPr>
              <a:t>dézippez l'export sur le PC de régie, lancez le diaporama Windows plein écran sur le mur LED.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EFEAE1"/>
                </a:solidFill>
                <a:latin typeface="Segoe UI"/>
              </a:rPr>
              <a:t>•  2 · Vote à main levée — </a:t>
            </a:r>
            <a:r>
              <a:rPr sz="1700">
                <a:solidFill>
                  <a:srgbClr val="8F8880"/>
                </a:solidFill>
                <a:latin typeface="Segoe UI"/>
              </a:rPr>
              <a:t>l'animateur affiche les 5 photos une à une, applaudimètre, l'agence tranche.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EFEAE1"/>
                </a:solidFill>
                <a:latin typeface="Segoe UI"/>
              </a:rPr>
              <a:t>•  3 · Le classement fait foi — </a:t>
            </a:r>
            <a:r>
              <a:rPr sz="1700">
                <a:solidFill>
                  <a:srgbClr val="8F8880"/>
                </a:solidFill>
                <a:latin typeface="Segoe UI"/>
              </a:rPr>
              <a:t>le fichier CSV de l'export contient prénoms et votes au moment de l'export.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EFEAE1"/>
                </a:solidFill>
                <a:latin typeface="Segoe UI"/>
              </a:rPr>
              <a:t>•  On bascule, on ne répare pas en direct — </a:t>
            </a:r>
            <a:r>
              <a:rPr sz="1700">
                <a:solidFill>
                  <a:srgbClr val="8F8880"/>
                </a:solidFill>
                <a:latin typeface="Segoe UI"/>
              </a:rPr>
              <a:t>le référent technique s'occupe du reste après la soirée.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109728"/>
          </a:xfrm>
          <a:prstGeom prst="rect">
            <a:avLst/>
          </a:prstGeom>
          <a:solidFill>
            <a:srgbClr val="C8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F8880"/>
                </a:solidFill>
                <a:latin typeface="Consolas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LE 13 AOÛT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1F1B18"/>
                </a:solidFill>
                <a:latin typeface="Segoe UI"/>
              </a:rPr>
              <a:t>Répétition générale et contacts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00">
                <a:solidFill>
                  <a:srgbClr val="1F1B18"/>
                </a:solidFill>
                <a:latin typeface="Segoe UI"/>
              </a:rPr>
              <a:t>•  Le site s'ouvre en 4G (pas seulement en Wi-Fi) et le QR des totems y mène.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00">
                <a:solidFill>
                  <a:srgbClr val="1F1B18"/>
                </a:solidFill>
                <a:latin typeface="Segoe UI"/>
              </a:rPr>
              <a:t>•  Christian ET Hadassa se connectent à la régie depuis leur téléphone.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00">
                <a:solidFill>
                  <a:srgbClr val="1F1B18"/>
                </a:solidFill>
                <a:latin typeface="Segoe UI"/>
              </a:rPr>
              <a:t>•  L'écran LED affiche l'attente + QR à la résolution réelle du mur.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00">
                <a:solidFill>
                  <a:srgbClr val="1F1B18"/>
                </a:solidFill>
                <a:latin typeface="Segoe UI"/>
              </a:rPr>
              <a:t>•  Un parcours complet : entrée → selfie → validation → vote → écran → révélation de test.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00">
                <a:solidFill>
                  <a:srgbClr val="1F1B18"/>
                </a:solidFill>
                <a:latin typeface="Segoe UI"/>
              </a:rPr>
              <a:t>•  Les sauvegardes tournent (à confirmer avec le référent technique).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06240"/>
            <a:ext cx="109728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4206240"/>
            <a:ext cx="38100" cy="1554480"/>
          </a:xfrm>
          <a:prstGeom prst="rect">
            <a:avLst/>
          </a:prstGeom>
          <a:solidFill>
            <a:srgbClr val="C8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343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Contacts d'urgence (à compléter avant le 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E675E"/>
                </a:solidFill>
                <a:latin typeface="Segoe UI"/>
              </a:rPr>
              <a:t>Référent technique (astreinte soirée) : ____________________     Hébergeur : ____________________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E675E"/>
                </a:solidFill>
                <a:latin typeface="Segoe UI"/>
              </a:rPr>
              <a:t>Responsable agence sur place : 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6E5836"/>
                </a:solidFill>
                <a:latin typeface="Segoe UI"/>
              </a:rPr>
              <a:t>Tout le détail pas à pas : RUNBOOK.md (fourni avec le dispositif).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