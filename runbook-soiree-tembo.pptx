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109728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5400" b="1">
                <a:solidFill>
                  <a:srgbClr val="EFEAE1"/>
                </a:solidFill>
                <a:latin typeface="Segoe UI"/>
              </a:rPr>
              <a:t>RUNBOOK SOIRÉE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2697480"/>
            <a:ext cx="2377440" cy="3810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000" b="0">
                <a:solidFill>
                  <a:srgbClr val="C4A56E"/>
                </a:solidFill>
                <a:latin typeface="Consolas"/>
              </a:rPr>
              <a:t>Club Tembo · vendredi 14 août 2026 · Kinshasa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404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8F8880"/>
                </a:solidFill>
                <a:latin typeface="Segoe UI"/>
              </a:rPr>
              <a:t>Le mode d'emploi du soir J — une situation par diapositive.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800" b="0">
                <a:solidFill>
                  <a:srgbClr val="8F8880"/>
                </a:solidFill>
                <a:latin typeface="Segoe UI"/>
              </a:rPr>
              <a:t>À garder ouvert sur le poste de régie pendant toute la soirée.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À AFFICHER PRÈS DU POSTE DE RÉGIE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Les adresses à connaître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02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38100" cy="64008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9280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Mini-site invité (le QR y mène)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965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5836"/>
                </a:solidFill>
                <a:latin typeface="Consolas"/>
              </a:rPr>
              <a:t>tembo-vote.ywcdigital.com/tembo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0604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06040"/>
            <a:ext cx="38100" cy="64008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7004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Régie — votre poste de commande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5836"/>
                </a:solidFill>
                <a:latin typeface="Consolas"/>
              </a:rPr>
              <a:t>tembo-vote.ywcdigital.com/regie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38328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83280"/>
            <a:ext cx="38100" cy="64008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44728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Mur LED (plein écran, on n'y touche plus)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3520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5836"/>
                </a:solidFill>
                <a:latin typeface="Consolas"/>
              </a:rPr>
              <a:t>tembo-vote.ywcdigital.com/ecran/CLÉ-SECRÈTE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160520"/>
            <a:ext cx="1097280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4160520"/>
            <a:ext cx="38100" cy="64008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Page QR (tablette d'entrée / 2e écran)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400" b="0">
                <a:solidFill>
                  <a:srgbClr val="6E5836"/>
                </a:solidFill>
                <a:latin typeface="Consolas"/>
              </a:rPr>
              <a:t>tembo-vote.ywcdigital.com/ecran/CLÉ-SECRÈTE/qr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6E675E"/>
                </a:solidFill>
                <a:latin typeface="Segoe UI"/>
              </a:rPr>
              <a:t>Comptes régie : christian@tembo-vote.app · alicia@tembo-vote.app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500" b="0">
                <a:solidFill>
                  <a:srgbClr val="6E675E"/>
                </a:solidFill>
                <a:latin typeface="Segoe UI"/>
              </a:rPr>
              <a:t>Mots de passe transmis à part — ne jamais les écrire dans ce document.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ACCÈS INVITÉS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QR d'abord, code en secours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Le chemin normal : scanner le QR de l'écran LED  —  </a:t>
            </a:r>
            <a:r>
              <a:rPr sz="1700">
                <a:solidFill>
                  <a:srgbClr val="6E675E"/>
                </a:solidFill>
                <a:latin typeface="Segoe UI"/>
              </a:rPr>
              <a:t>il fait entrer directement, sans rien saisir.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Le secours : le code à 4 chiffres  —  </a:t>
            </a:r>
            <a:r>
              <a:rPr sz="1700">
                <a:solidFill>
                  <a:srgbClr val="6E675E"/>
                </a:solidFill>
                <a:latin typeface="Segoe UI"/>
              </a:rPr>
              <a:t>affiché à côté du QR — à saisir sur la page d'accès (QR imprimé des totems).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Le code change toutes les 20 minutes  —  </a:t>
            </a:r>
            <a:r>
              <a:rPr sz="1700">
                <a:solidFill>
                  <a:srgbClr val="6E675E"/>
                </a:solidFill>
                <a:latin typeface="Segoe UI"/>
              </a:rPr>
              <a:t>l'ancien reste valable 20 minutes de plus : personne n'est rejeté au changement.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④  </a:t>
            </a:r>
            <a:r>
              <a:rPr sz="1800" b="1">
                <a:solidFill>
                  <a:srgbClr val="1F1B18"/>
                </a:solidFill>
                <a:latin typeface="Segoe UI"/>
              </a:rPr>
              <a:t>Où lire le code si le mur LED est en panne  —  </a:t>
            </a:r>
            <a:r>
              <a:rPr sz="1700">
                <a:solidFill>
                  <a:srgbClr val="6E675E"/>
                </a:solidFill>
                <a:latin typeface="Segoe UI"/>
              </a:rPr>
              <a:t>régie → Tableau de bord, en gros chiffres or. Annoncez-le au micro.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Un invité bloqué ? Faites-lui scanner la tablette d'entrée (page QR), c'est le chemin le plus court.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→ ONGLET SOIRÉE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Changer la phase : un clic, effet immédiat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04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38100" cy="530352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3794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Préparation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856232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avant l'ouverture — l'écran montre le QR + code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41448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441448"/>
            <a:ext cx="38100" cy="530352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4871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49631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Publication + vote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514600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au lancement de la soirée — tout est ouvert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099816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" y="3099816"/>
            <a:ext cx="38100" cy="530352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14553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154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Vote seul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172968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optionnel — stop aux nouvelles photos, les votes continuent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758184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758184"/>
            <a:ext cx="38100" cy="530352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380390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1304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Votes clos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831336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le classement se fige — direction l'onglet Révélation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416552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" y="4416552"/>
            <a:ext cx="38100" cy="530352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4622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447141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Révélation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20" y="4489704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la photo gagnante en grand sur l'écran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74920"/>
            <a:ext cx="10972800" cy="5303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" y="5074920"/>
            <a:ext cx="38100" cy="530352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1206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>
                <a:solidFill>
                  <a:srgbClr val="6E5836"/>
                </a:solidFill>
                <a:latin typeface="Consolas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51297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500" b="1">
                <a:solidFill>
                  <a:srgbClr val="1F1B18"/>
                </a:solidFill>
                <a:latin typeface="Segoe UI"/>
              </a:rPr>
              <a:t>Terminé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148072"/>
            <a:ext cx="7040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>
                <a:solidFill>
                  <a:srgbClr val="6E675E"/>
                </a:solidFill>
                <a:latin typeface="Segoe UI"/>
              </a:rPr>
              <a:t>écran de remerciement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89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Le bouton de la phase en cours est marqué « en cours ». Un clic suffit — pas de confirmation, c'est voulu.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→ ONGLET MODÉRATION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Valider ou refuser une photo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La file se remplit toute seule  —  </a:t>
            </a:r>
            <a:r>
              <a:rPr sz="1700">
                <a:solidFill>
                  <a:srgbClr val="6E675E"/>
                </a:solidFill>
                <a:latin typeface="Segoe UI"/>
              </a:rPr>
              <a:t>photo la plus ancienne d'abord, compteur en gros. Rafraîchie toutes les 5 secondes.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Regardez la photo ET le prénom  —  </a:t>
            </a:r>
            <a:r>
              <a:rPr sz="1700">
                <a:solidFill>
                  <a:srgbClr val="6E675E"/>
                </a:solidFill>
                <a:latin typeface="Segoe UI"/>
              </a:rPr>
              <a:t>touchez la photo pour l'ouvrir en grand si besoin.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VALIDER  —  </a:t>
            </a:r>
            <a:r>
              <a:rPr sz="1700">
                <a:solidFill>
                  <a:srgbClr val="6E675E"/>
                </a:solidFill>
                <a:latin typeface="Segoe UI"/>
              </a:rPr>
              <a:t>elle apparaît dans la galerie et sur l'écran en quelques secondes.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④  </a:t>
            </a:r>
            <a:r>
              <a:rPr sz="1800" b="1">
                <a:solidFill>
                  <a:srgbClr val="1F1B18"/>
                </a:solidFill>
                <a:latin typeface="Segoe UI"/>
              </a:rPr>
              <a:t>ou REFUSER avec un motif  —  </a:t>
            </a:r>
            <a:r>
              <a:rPr sz="1700">
                <a:solidFill>
                  <a:srgbClr val="6E675E"/>
                </a:solidFill>
                <a:latin typeface="Segoe UI"/>
              </a:rPr>
              <a:t>produit absent · contenu inapproprié · photo illisible · autre. L'invité voit le motif et peut reprendre une photo.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⑤  </a:t>
            </a:r>
            <a:r>
              <a:rPr sz="1800" b="1">
                <a:solidFill>
                  <a:srgbClr val="1F1B18"/>
                </a:solidFill>
                <a:latin typeface="Segoe UI"/>
              </a:rPr>
              <a:t>« Traitée par l'autre modérateur » ?  —  </a:t>
            </a:r>
            <a:r>
              <a:rPr sz="1700">
                <a:solidFill>
                  <a:srgbClr val="6E675E"/>
                </a:solidFill>
                <a:latin typeface="Segoe UI"/>
              </a:rPr>
              <a:t>tout va bien : vous étiez deux sur la même photo, la suivante s'affiche.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MOINS DE 30 SECONDES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Retirer une photo déjà publiée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Régie → onglet Publiées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Repérez la photo  —  </a:t>
            </a:r>
            <a:r>
              <a:rPr sz="1700">
                <a:solidFill>
                  <a:srgbClr val="6E675E"/>
                </a:solidFill>
                <a:latin typeface="Segoe UI"/>
              </a:rPr>
              <a:t>la recherche visuelle est rapide : elles sont classées des plus récentes aux plus anciennes.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RETIRER, puis CONFIRMER LE RETRAIT  —  </a:t>
            </a:r>
            <a:r>
              <a:rPr sz="1700">
                <a:solidFill>
                  <a:srgbClr val="6E675E"/>
                </a:solidFill>
                <a:latin typeface="Segoe UI"/>
              </a:rPr>
              <a:t>elle disparaît de la galerie et du classement en quelques secondes.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L'invité peut aussi le faire lui-même depuis son téléphone : « Ma photo » → « Retirer ma photo de la soirée ». Un retrait est définitif pour la soirée — en cas de doute, retirez : on ne prend aucun risque avec cette cible.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L'écran LED semble figé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Un petit point doré en haut à gauche ?  —  </a:t>
            </a:r>
            <a:r>
              <a:rPr sz="1700">
                <a:solidFill>
                  <a:srgbClr val="6E675E"/>
                </a:solidFill>
                <a:latin typeface="Segoe UI"/>
              </a:rPr>
              <a:t>simple coupure réseau passagère : l'écran garde le classement et se remet SEUL. Ne touchez à rien.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Compteurs immobiles depuis plus de 2 minutes alors que la salle vote ?  —  </a:t>
            </a:r>
            <a:r>
              <a:rPr sz="1700">
                <a:solidFill>
                  <a:srgbClr val="6E675E"/>
                </a:solidFill>
                <a:latin typeface="Segoe UI"/>
              </a:rPr>
              <a:t>rechargez la page (F5) sur la machine de régie.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Toujours rien ?  —  </a:t>
            </a:r>
            <a:r>
              <a:rPr sz="1700">
                <a:solidFill>
                  <a:srgbClr val="6E675E"/>
                </a:solidFill>
                <a:latin typeface="Segoe UI"/>
              </a:rPr>
              <a:t>fermez le navigateur, rouvrez l'adresse de l'écran, repassez en plein écran (F11).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④  </a:t>
            </a:r>
            <a:r>
              <a:rPr sz="1800" b="1">
                <a:solidFill>
                  <a:srgbClr val="1F1B18"/>
                </a:solidFill>
                <a:latin typeface="Segoe UI"/>
              </a:rPr>
              <a:t>Écran noir / matériel ?  —  </a:t>
            </a:r>
            <a:r>
              <a:rPr sz="1700">
                <a:solidFill>
                  <a:srgbClr val="6E675E"/>
                </a:solidFill>
                <a:latin typeface="Segoe UI"/>
              </a:rPr>
              <a:t>appelez le régisseur technique — et lisez le code d'accès depuis la régie en attendant (diapo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Normal : la page se recharge d'elle-même toutes les 30 minutes — un bref rafraîchissement n'est pas une panne.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INCIDENT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Des invités n'arrivent pas à publier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Un seul invité ?  —  </a:t>
            </a:r>
            <a:r>
              <a:rPr sz="1700">
                <a:solidFill>
                  <a:srgbClr val="6E675E"/>
                </a:solidFill>
                <a:latin typeface="Segoe UI"/>
              </a:rPr>
              <a:t>c'est presque toujours sa 4G. Le message sur son téléphone le guide — sa photo n'est pas perdue, il peut réessayer.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Plusieurs invités en même temps ?  —  </a:t>
            </a:r>
            <a:r>
              <a:rPr sz="1700">
                <a:solidFill>
                  <a:srgbClr val="6E675E"/>
                </a:solidFill>
                <a:latin typeface="Segoe UI"/>
              </a:rPr>
              <a:t>vérifiez la phase (elle doit être « Publication + vote »), puis que la régie répond (ouvrez le Tableau de bord).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Ça persiste ?  —  </a:t>
            </a:r>
            <a:r>
              <a:rPr sz="1700">
                <a:solidFill>
                  <a:srgbClr val="6E675E"/>
                </a:solidFill>
                <a:latin typeface="Segoe UI"/>
              </a:rPr>
              <a:t>prévenez le référent technique (diapo contacts).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④  </a:t>
            </a:r>
            <a:r>
              <a:rPr sz="1800" b="1">
                <a:solidFill>
                  <a:srgbClr val="1F1B18"/>
                </a:solidFill>
                <a:latin typeface="Segoe UI"/>
              </a:rPr>
              <a:t>En dernier recours  —  </a:t>
            </a:r>
            <a:r>
              <a:rPr sz="1700">
                <a:solidFill>
                  <a:srgbClr val="6E675E"/>
                </a:solidFill>
                <a:latin typeface="Segoe UI"/>
              </a:rPr>
              <a:t>collectez les selfies sur un téléphone du staff (WhatsApp) et publiez-les depuis ce téléphone via le parcours normal.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RÉGIE → ONGLET RÉVÉLATION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La révélation, en 4 temps guidés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①  </a:t>
            </a:r>
            <a:r>
              <a:rPr sz="1800" b="1">
                <a:solidFill>
                  <a:srgbClr val="1F1B18"/>
                </a:solidFill>
                <a:latin typeface="Segoe UI"/>
              </a:rPr>
              <a:t>Passer en « Votes clos »  —  </a:t>
            </a:r>
            <a:r>
              <a:rPr sz="1700">
                <a:solidFill>
                  <a:srgbClr val="6E675E"/>
                </a:solidFill>
                <a:latin typeface="Segoe UI"/>
              </a:rPr>
              <a:t>le bouton vous est proposé sur place si ce n'est pas déjà fait.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②  </a:t>
            </a:r>
            <a:r>
              <a:rPr sz="1800" b="1">
                <a:solidFill>
                  <a:srgbClr val="1F1B18"/>
                </a:solidFill>
                <a:latin typeface="Segoe UI"/>
              </a:rPr>
              <a:t>Relire le Top 5  —  </a:t>
            </a:r>
            <a:r>
              <a:rPr sz="1700">
                <a:solidFill>
                  <a:srgbClr val="6E675E"/>
                </a:solidFill>
                <a:latin typeface="Segoe UI"/>
              </a:rPr>
              <a:t>les votes suspects sont signalés en rouge (= plusieurs votes du même téléphone). Rien n'est bloqué : c'est VOTRE jugement qui fait foi. Pour disqualifier : Publiées → Retirer, le classement se recalcule.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③  </a:t>
            </a:r>
            <a:r>
              <a:rPr sz="1800" b="1">
                <a:solidFill>
                  <a:srgbClr val="1F1B18"/>
                </a:solidFill>
                <a:latin typeface="Segoe UI"/>
              </a:rPr>
              <a:t>VALIDER LE CLASSEMENT FINAL  —  </a:t>
            </a:r>
            <a:r>
              <a:rPr sz="1700">
                <a:solidFill>
                  <a:srgbClr val="6E675E"/>
                </a:solidFill>
                <a:latin typeface="Segoe UI"/>
              </a:rPr>
              <a:t>un clic — le gagnant est enregistré, avec l'heure et votre nom.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6E5836"/>
                </a:solidFill>
                <a:latin typeface="Consolas"/>
              </a:rPr>
              <a:t>④  </a:t>
            </a:r>
            <a:r>
              <a:rPr sz="1800" b="1">
                <a:solidFill>
                  <a:srgbClr val="1F1B18"/>
                </a:solidFill>
                <a:latin typeface="Segoe UI"/>
              </a:rPr>
              <a:t>LANCER LA RÉVÉLATION  —  </a:t>
            </a:r>
            <a:r>
              <a:rPr sz="1700">
                <a:solidFill>
                  <a:srgbClr val="6E675E"/>
                </a:solidFill>
                <a:latin typeface="Segoe UI"/>
              </a:rPr>
              <a:t>la photo gagnante apparaît en fondu sur l'écran. Après le moment de scène : « Terminer — écran de remerciement ».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064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6E5836"/>
                </a:solidFill>
                <a:latin typeface="Segoe UI"/>
              </a:rPr>
              <a:t>Aucun prix ne part sur scène sans cette relecture humaine : c'est la protection anti-triche du dispositif.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0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ED1C24"/>
                </a:solidFill>
                <a:latin typeface="Consolas"/>
              </a:rPr>
              <a:t>SI LE DISPOSITIF TOMBE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EFEAE1"/>
                </a:solidFill>
                <a:latin typeface="Segoe UI"/>
              </a:rPr>
              <a:t>PLAN B — la panne ne doit jamais se voir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8F8880"/>
                </a:solidFill>
                <a:latin typeface="Consolas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C4A56E"/>
                </a:solidFill>
                <a:latin typeface="Consolas"/>
              </a:rPr>
              <a:t>⓪  </a:t>
            </a:r>
            <a:r>
              <a:rPr sz="1800" b="1">
                <a:solidFill>
                  <a:srgbClr val="EFEAE1"/>
                </a:solidFill>
                <a:latin typeface="Segoe UI"/>
              </a:rPr>
              <a:t>Réflexe préventif, dès la fin des publications  —  </a:t>
            </a:r>
            <a:r>
              <a:rPr sz="1700">
                <a:solidFill>
                  <a:srgbClr val="8F8880"/>
                </a:solidFill>
                <a:latin typeface="Segoe UI"/>
              </a:rPr>
              <a:t>Tableau de bord → « Exporter les photos validées (ZIP + CSV) ». Vous aurez toujours un diaporama prêt.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C4A56E"/>
                </a:solidFill>
                <a:latin typeface="Consolas"/>
              </a:rPr>
              <a:t>①  </a:t>
            </a:r>
            <a:r>
              <a:rPr sz="1800" b="1">
                <a:solidFill>
                  <a:srgbClr val="EFEAE1"/>
                </a:solidFill>
                <a:latin typeface="Segoe UI"/>
              </a:rPr>
              <a:t>Diaporama de secours  —  </a:t>
            </a:r>
            <a:r>
              <a:rPr sz="1700">
                <a:solidFill>
                  <a:srgbClr val="8F8880"/>
                </a:solidFill>
                <a:latin typeface="Segoe UI"/>
              </a:rPr>
              <a:t>dézippez l'export sur le PC de régie → sélectionnez les photos → Diaporama Windows plein écran sur le mur LED.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C4A56E"/>
                </a:solidFill>
                <a:latin typeface="Consolas"/>
              </a:rPr>
              <a:t>②  </a:t>
            </a:r>
            <a:r>
              <a:rPr sz="1800" b="1">
                <a:solidFill>
                  <a:srgbClr val="EFEAE1"/>
                </a:solidFill>
                <a:latin typeface="Segoe UI"/>
              </a:rPr>
              <a:t>Vote à main levée  —  </a:t>
            </a:r>
            <a:r>
              <a:rPr sz="1700">
                <a:solidFill>
                  <a:srgbClr val="8F8880"/>
                </a:solidFill>
                <a:latin typeface="Segoe UI"/>
              </a:rPr>
              <a:t>l'animateur montre les 5 photos une à une, applaudimètre, l'agence tranche.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2000" b="1">
                <a:solidFill>
                  <a:srgbClr val="C4A56E"/>
                </a:solidFill>
                <a:latin typeface="Consolas"/>
              </a:rPr>
              <a:t>③  </a:t>
            </a:r>
            <a:r>
              <a:rPr sz="1800" b="1">
                <a:solidFill>
                  <a:srgbClr val="EFEAE1"/>
                </a:solidFill>
                <a:latin typeface="Segoe UI"/>
              </a:rPr>
              <a:t>Le CSV fait foi  —  </a:t>
            </a:r>
            <a:r>
              <a:rPr sz="1700">
                <a:solidFill>
                  <a:srgbClr val="8F8880"/>
                </a:solidFill>
                <a:latin typeface="Segoe UI"/>
              </a:rPr>
              <a:t>il contient prénoms et votes au moment de l'export.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1">
                <a:solidFill>
                  <a:srgbClr val="C4A56E"/>
                </a:solidFill>
                <a:latin typeface="Segoe UI"/>
              </a:rPr>
              <a:t>On bascule, on ne répare pas en direct. Le référent technique s'occupe du reste après la soirée.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55080"/>
            <a:ext cx="12191695" cy="91440"/>
          </a:xfrm>
          <a:prstGeom prst="rect">
            <a:avLst/>
          </a:prstGeom>
          <a:solidFill>
            <a:srgbClr val="ED1C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À COMPLÉTER AVANT LE 13 AOÛT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Contacts et escalade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11 / 12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92024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920240"/>
            <a:ext cx="38100" cy="65836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06654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1B18"/>
                </a:solidFill>
                <a:latin typeface="Segoe UI"/>
              </a:rPr>
              <a:t>Référent technique (astreinte soirée) : ____________________________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74320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743200"/>
            <a:ext cx="38100" cy="65836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8950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1B18"/>
                </a:solidFill>
                <a:latin typeface="Segoe UI"/>
              </a:rPr>
              <a:t>Hébergeur — support : ____________________________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566160"/>
            <a:ext cx="10972800" cy="6583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566160"/>
            <a:ext cx="38100" cy="658368"/>
          </a:xfrm>
          <a:prstGeom prst="rect">
            <a:avLst/>
          </a:prstGeom>
          <a:solidFill>
            <a:srgbClr val="C816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712464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0">
                <a:solidFill>
                  <a:srgbClr val="1F1B18"/>
                </a:solidFill>
                <a:latin typeface="Segoe UI"/>
              </a:rPr>
              <a:t>Responsable agence sur place : ____________________________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754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6E5836"/>
                </a:solidFill>
                <a:latin typeface="Segoe UI"/>
              </a:rPr>
              <a:t>Escalade : modérateur → référent technique (15 min max) → PLAN B (diapo 10).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1">
                <a:solidFill>
                  <a:srgbClr val="6E5836"/>
                </a:solidFill>
                <a:latin typeface="Segoe UI"/>
              </a:rPr>
              <a:t>Enregistrez ces numéros dans vos téléphones AVANT la soirée.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1">
                <a:solidFill>
                  <a:srgbClr val="C8161D"/>
                </a:solidFill>
                <a:latin typeface="Consolas"/>
              </a:rPr>
              <a:t>RÉPÉTITION GÉNÉRALE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200" b="1">
                <a:solidFill>
                  <a:srgbClr val="1F1B18"/>
                </a:solidFill>
                <a:latin typeface="Segoe UI"/>
              </a:rPr>
              <a:t>Checklist du 13 août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463040"/>
            <a:ext cx="1645920" cy="33020"/>
          </a:xfrm>
          <a:prstGeom prst="rect">
            <a:avLst/>
          </a:prstGeom>
          <a:solidFill>
            <a:srgbClr val="8C7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11535" y="640080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100" b="0">
                <a:solidFill>
                  <a:srgbClr val="6E675E"/>
                </a:solidFill>
                <a:latin typeface="Consolas"/>
              </a:rPr>
              <a:t>12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Le site s'ouvre en 4G (pas seulement en Wi-Fi) et le QR des totems y mène.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Christian ET Alicia se connectent à la régie depuis leur téléphone.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L'écran LED affiche l'attente + QR à la résolution réelle du mur.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Parcours complet : entrée → selfie → validation → vote → écran.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Une révélation de test, puis remise en phase « Préparation ».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Un retrait de photo testé (Publiées → Retirer).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Les sauvegardes tournent (à confirmer avec le référent technique).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6E5836"/>
                </a:solidFill>
              </a:rPr>
              <a:t>☐  </a:t>
            </a:r>
            <a:r>
              <a:rPr sz="1600">
                <a:solidFill>
                  <a:srgbClr val="1F1B18"/>
                </a:solidFill>
                <a:latin typeface="Segoe UI"/>
              </a:rPr>
              <a:t>Les contacts de la diapo 11 sont remplis et enregistrés.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